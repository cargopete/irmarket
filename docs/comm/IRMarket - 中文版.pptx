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256" r:id="rId3"/>
    <p:sldId id="257" r:id="rId4"/>
    <p:sldId id="265" r:id="rId5"/>
    <p:sldId id="261" r:id="rId6"/>
    <p:sldId id="259" r:id="rId7"/>
    <p:sldId id="26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是 Monad 上一个免许可的二元期权市场。任何人都可以对任何有价格的资产交易看涨或看跌期权——A 股、Labubu 潮玩，什么都行。最关键的差异化是，你可以做空那些在别的地方根本没法空的资产，比如 A 股。团队由 d1xia 主导。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背后的核心洞察是：没有做空机制的市场从根本上就是有问题的。拿 A 股来说，没有便捷的做空方式，所以泡沫一旦形成，那些看到高估的理性投资者根本没法从自己的判断中获利。一个只允许做多的市场，本质上是在惩罚理性行为、奖励跟风追涨的不理性。做空才是让价格发现真正有效的机制——它给理性的人一个做对事的途径。IRMarket 就是要解决这个问题，让任何资产都能被免许可地做空。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B330-CE90-7ED3-EDA3-809C68CA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C8314C-099F-733B-DC2F-C1D6B6661F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AF315-7B86-31DD-2F30-65A6DD83C3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209DD1-BD0C-6F94-B543-8165577C9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19023D-1602-290D-AC64-A87B2291D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背后的核心洞察是：没有做空机制的市场从根本上就是有问题的。拿 A 股来说，没有便捷的做空方式，所以泡沫一旦形成，那些看到高估的理性投资者根本没法从自己的判断中获利。一个只允许做多的市场，本质上是在惩罚理性行为、奖励跟风追涨的不理性。做空才是让价格发现真正有效的机制——它给理性的人一个做对事的途径。IRMarket 就是要解决这个问题，让任何资产都能被免许可地做空。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E5422-9ED5-AF4E-1DDA-8DE3A554A4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6E778-9907-8246-E2D0-B30BE63A1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5721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2B5A0-D654-B4A6-72B3-B071AED9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FB2AA7-5C0E-1FC4-8D5B-EAA366C38C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47FE1-97E1-F372-5A0C-9E21CC0C7CE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AF7F5E-388F-EB06-F0A5-EA4BF881D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0CDF93-7F7E-6973-8ECC-CD8E58BE6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是搭建在 Monad 上的免许可二元期权市场。四个核心特性：第一，任何资产都能上市——A 股、Labubu 潮玩，只要有价格，任何人都能创建市场。第二，用户选择看涨或看跌，投入 HKD 立刻获得仓位，最大亏损封顶在本金，所以不会爆仓、不会被追缴保证金。第三，这意味着你可以做空任何东西，包括 A 股这种在别的地方根本没法做空的资产。第四，默认 3 分钟到期，但随时可以反向平仓退出。结算价完全在链上执行，不需要链下预言机，也不需要信任任何验证节点。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CBE07-9BA6-EC78-E397-539ACCFCC0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7ED26-5DEB-A729-331E-AA2DC002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82114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现在给大家演示一下已经跑在 Monad 上的 IRMarket。你会看到选一个有价格的资产（比如某只 A 股）、点看跌做空、几秒钟内完成交易有多简单。线上地址是 irmarket-g6pflvq3o-h-fbf5.vercel.app，大家可以自己上去试试。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0fee006f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40fee006f4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3307400"/>
            <a:ext cx="10819200" cy="32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264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762000"/>
            <a:ext cx="1778000" cy="1778000"/>
          </a:xfrm>
          <a:prstGeom prst="ellipse">
            <a:avLst/>
          </a:prstGeom>
          <a:solidFill>
            <a:srgbClr val="836EF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414000" y="4826000"/>
            <a:ext cx="1270000" cy="1270000"/>
          </a:xfrm>
          <a:prstGeom prst="ellipse">
            <a:avLst/>
          </a:prstGeom>
          <a:solidFill>
            <a:srgbClr val="836EF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64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rrational </a:t>
            </a:r>
            <a:r>
              <a:rPr lang="en-US" sz="64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Market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200" b="1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任何有价格的资产都</a:t>
            </a:r>
            <a:r>
              <a:rPr lang="zh-CN" altLang="en-US" sz="2200" b="1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应该可以被做空</a:t>
            </a:r>
            <a:r>
              <a:rPr lang="en-US" sz="2200" b="1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558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</a:t>
            </a:r>
            <a:r>
              <a:rPr lang="en-US" altLang="zh-CN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Who</a:t>
            </a:r>
            <a:r>
              <a:rPr lang="en-US" altLang="zh-CN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Killed Jeffrey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825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8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不能做空的市场，只会奖励不理性</a:t>
            </a:r>
            <a:r>
              <a:rPr lang="en-US" sz="28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800" b="1" dirty="0">
              <a:solidFill>
                <a:srgbClr val="836EF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0668000" cy="3302000"/>
          </a:xfrm>
          <a:prstGeom prst="roundRect">
            <a:avLst>
              <a:gd name="adj" fmla="val 0"/>
            </a:avLst>
          </a:prstGeom>
          <a:solidFill>
            <a:srgbClr val="836EF9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476500"/>
            <a:ext cx="9906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50000"/>
              </a:lnSpc>
              <a:buClr>
                <a:srgbClr val="2D2D3A"/>
              </a:buClr>
              <a:buChar char="•"/>
            </a:pP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一个只能做多的市场，本质上是在惩罚理性</a:t>
            </a:r>
            <a:endParaRPr lang="en-US" sz="2400" dirty="0">
              <a:solidFill>
                <a:srgbClr val="2D2D3A"/>
              </a:solidFill>
              <a:latin typeface="Noto Sans SC"/>
              <a:ea typeface="Noto Sans SC"/>
              <a:sym typeface="Noto Sans SC"/>
            </a:endParaRPr>
          </a:p>
          <a:p>
            <a:pPr marL="203200" indent="-203200">
              <a:lnSpc>
                <a:spcPct val="150000"/>
              </a:lnSpc>
              <a:buClr>
                <a:srgbClr val="2D2D3A"/>
              </a:buClr>
              <a:buFont typeface="Arial"/>
              <a:buChar char="•"/>
            </a:pPr>
            <a:r>
              <a:rPr lang="en-US" altLang="zh-CN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You have to be irrationally rational</a:t>
            </a:r>
            <a:endParaRPr lang="en-US" sz="2400" dirty="0">
              <a:solidFill>
                <a:srgbClr val="2D2D3A"/>
              </a:solidFill>
              <a:latin typeface="Noto Sans SC"/>
              <a:ea typeface="Noto Sans SC"/>
              <a:sym typeface="Noto Sans SC"/>
            </a:endParaRPr>
          </a:p>
          <a:p>
            <a:pPr marL="203200" indent="-203200" algn="l">
              <a:lnSpc>
                <a:spcPct val="150000"/>
              </a:lnSpc>
              <a:buClr>
                <a:srgbClr val="2D2D3A"/>
              </a:buClr>
              <a:buChar char="•"/>
            </a:pP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做空是价格发现的核心</a:t>
            </a:r>
            <a:r>
              <a:rPr 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——</a:t>
            </a: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它让理性的人有机会做对的事</a:t>
            </a:r>
            <a:endParaRPr lang="en-US" sz="2400" dirty="0">
              <a:solidFill>
                <a:srgbClr val="2D2D3A"/>
              </a:solidFill>
              <a:latin typeface="Noto Sans SC"/>
              <a:ea typeface="Noto Sans SC"/>
              <a:sym typeface="Noto Sans SC"/>
            </a:endParaRPr>
          </a:p>
          <a:p>
            <a:pPr marL="203200" indent="-203200">
              <a:lnSpc>
                <a:spcPct val="150000"/>
              </a:lnSpc>
              <a:buClr>
                <a:srgbClr val="2D2D3A"/>
              </a:buClr>
              <a:buFont typeface="Arial"/>
              <a:buChar char="•"/>
            </a:pPr>
            <a:r>
              <a:rPr lang="zh-CN" alt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举个例子：</a:t>
            </a:r>
            <a:r>
              <a:rPr lang="en-US" altLang="zh-CN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H/</a:t>
            </a:r>
            <a:r>
              <a:rPr 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A </a:t>
            </a: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股没有便捷的做空渠道，泡沫来了，看空的人只能看着，没法用行动表达判断</a:t>
            </a:r>
            <a:endParaRPr lang="en-US" sz="2400" dirty="0">
              <a:solidFill>
                <a:srgbClr val="2D2D3A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F49E3-921D-1F31-2CE8-E3949AAC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AC62D7-85DE-6AD0-4DCA-8D1E85EA85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8BD27D-9B8C-ADEE-9F7E-C99EA77CE725}"/>
              </a:ext>
            </a:extLst>
          </p:cNvPr>
          <p:cNvSpPr/>
          <p:nvPr/>
        </p:nvSpPr>
        <p:spPr>
          <a:xfrm>
            <a:off x="76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586F911-5AB5-43B8-E937-80C1281E6C39}"/>
              </a:ext>
            </a:extLst>
          </p:cNvPr>
          <p:cNvSpPr/>
          <p:nvPr/>
        </p:nvSpPr>
        <p:spPr>
          <a:xfrm>
            <a:off x="762000" y="825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8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不能做空的市场，只会奖励不理性</a:t>
            </a:r>
            <a:r>
              <a:rPr lang="en-US" sz="28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800" b="1" dirty="0">
              <a:solidFill>
                <a:srgbClr val="836EF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882C811-A238-FB24-1219-DEC23B731587}"/>
              </a:ext>
            </a:extLst>
          </p:cNvPr>
          <p:cNvSpPr/>
          <p:nvPr/>
        </p:nvSpPr>
        <p:spPr>
          <a:xfrm>
            <a:off x="762000" y="2159000"/>
            <a:ext cx="10668000" cy="3302000"/>
          </a:xfrm>
          <a:prstGeom prst="roundRect">
            <a:avLst>
              <a:gd name="adj" fmla="val 0"/>
            </a:avLst>
          </a:prstGeom>
          <a:solidFill>
            <a:srgbClr val="836EF9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779B6-DEE8-B645-3BEF-A0BC0F9A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19" y="2124931"/>
            <a:ext cx="5910821" cy="35077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E433DD-807B-F268-B867-F7D4A5D39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240" y="2180729"/>
            <a:ext cx="5453871" cy="34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07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818F-53F6-8ABA-7E44-4792A5AD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DC1909D-AE25-C1FA-A793-D7499B3A34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13B439-2728-102E-0792-7D10522A3422}"/>
              </a:ext>
            </a:extLst>
          </p:cNvPr>
          <p:cNvSpPr/>
          <p:nvPr/>
        </p:nvSpPr>
        <p:spPr>
          <a:xfrm>
            <a:off x="76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4C9161E-567F-5D4F-4E42-06043D581B2D}"/>
              </a:ext>
            </a:extLst>
          </p:cNvPr>
          <p:cNvSpPr/>
          <p:nvPr/>
        </p:nvSpPr>
        <p:spPr>
          <a:xfrm>
            <a:off x="761999" y="825500"/>
            <a:ext cx="1200891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800" b="1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2800" b="1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rrational </a:t>
            </a:r>
            <a:r>
              <a:rPr lang="en-US" sz="2800" b="1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Market</a:t>
            </a:r>
            <a:r>
              <a:rPr lang="en-US" sz="28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 - Monad </a:t>
            </a:r>
            <a:r>
              <a:rPr lang="en-US" sz="28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上的免许可</a:t>
            </a:r>
            <a:r>
              <a:rPr lang="zh-CN" altLang="en-US" sz="28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低门槛期权市场</a:t>
            </a:r>
            <a:r>
              <a:rPr lang="en-US" sz="28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1BFE496-04D2-F3A2-8D3B-B7ACFF11F258}"/>
              </a:ext>
            </a:extLst>
          </p:cNvPr>
          <p:cNvSpPr/>
          <p:nvPr/>
        </p:nvSpPr>
        <p:spPr>
          <a:xfrm>
            <a:off x="762000" y="1905000"/>
            <a:ext cx="10668000" cy="3556000"/>
          </a:xfrm>
          <a:prstGeom prst="roundRect">
            <a:avLst>
              <a:gd name="adj" fmla="val 0"/>
            </a:avLst>
          </a:prstGeom>
          <a:solidFill>
            <a:srgbClr val="836EF9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48CCBED-DC19-EE9F-2451-369D96E7CADE}"/>
              </a:ext>
            </a:extLst>
          </p:cNvPr>
          <p:cNvSpPr/>
          <p:nvPr/>
        </p:nvSpPr>
        <p:spPr>
          <a:xfrm>
            <a:off x="1143000" y="2222500"/>
            <a:ext cx="990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  <a:defRPr/>
            </a:pPr>
            <a:r>
              <a:rPr lang="en-US" sz="24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任何资产都能开市场</a:t>
            </a:r>
            <a:r>
              <a:rPr 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——A </a:t>
            </a:r>
            <a:r>
              <a:rPr lang="en-US" sz="2400" b="0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股、Labubu，只要有价格，任何人都能发</a:t>
            </a:r>
            <a:endParaRPr lang="en-US" sz="1600" dirty="0"/>
          </a:p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en-US" sz="24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看涨</a:t>
            </a:r>
            <a:r>
              <a:rPr lang="en-US" sz="2400" b="1" i="0" u="none" strike="noStrike" dirty="0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24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看跌</a:t>
            </a:r>
            <a:r>
              <a:rPr 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</a:t>
            </a:r>
            <a:r>
              <a:rPr lang="en-US" sz="2400" b="0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投入</a:t>
            </a:r>
            <a:r>
              <a:rPr 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 USD </a:t>
            </a:r>
            <a:r>
              <a:rPr lang="en-US" sz="2400" b="0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立刻拿到仓位，最大亏损就是本金，不会爆仓、不会追缴</a:t>
            </a:r>
            <a:endParaRPr lang="en-US" sz="2400" b="0" i="0" u="none" strike="noStrike" dirty="0">
              <a:solidFill>
                <a:srgbClr val="2D2D3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en-US" sz="2400" b="1" i="0" u="none" strike="noStrike" dirty="0" err="1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可以做空任何东西</a:t>
            </a:r>
            <a:r>
              <a:rPr 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</a:t>
            </a:r>
            <a:r>
              <a:rPr lang="en-US" sz="2400" b="0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包括</a:t>
            </a:r>
            <a:r>
              <a:rPr 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A </a:t>
            </a:r>
            <a:r>
              <a:rPr lang="en-US" sz="2400" b="0" i="0" u="none" strike="noStrike" dirty="0" err="1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股这种在别处根本没法空的</a:t>
            </a:r>
            <a:r>
              <a:rPr lang="zh-CN" altLang="en-US" sz="2400" b="0" i="0" u="none" strike="noStrike" dirty="0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b="0" i="0" u="none" strike="noStrike" dirty="0">
              <a:solidFill>
                <a:srgbClr val="2D2D3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zh-CN" altLang="en-US" sz="2400" b="1" dirty="0">
                <a:solidFill>
                  <a:srgbClr val="836EF9"/>
                </a:solidFill>
                <a:latin typeface="Noto Sans SC"/>
                <a:ea typeface="Noto Sans SC"/>
                <a:sym typeface="Noto Sans SC"/>
              </a:rPr>
              <a:t>低门槛 </a:t>
            </a:r>
            <a:r>
              <a:rPr lang="en-US" altLang="zh-CN" sz="2400" b="1" dirty="0">
                <a:solidFill>
                  <a:srgbClr val="836EF9"/>
                </a:solidFill>
                <a:latin typeface="Noto Sans SC"/>
                <a:ea typeface="Noto Sans SC"/>
                <a:sym typeface="Noto Sans SC"/>
              </a:rPr>
              <a:t>-</a:t>
            </a:r>
            <a:r>
              <a:rPr lang="zh-CN" altLang="en-US" sz="2400" b="1" dirty="0">
                <a:solidFill>
                  <a:srgbClr val="836EF9"/>
                </a:solidFill>
                <a:latin typeface="Noto Sans SC"/>
                <a:ea typeface="Noto Sans SC"/>
                <a:sym typeface="Noto Sans SC"/>
              </a:rPr>
              <a:t> </a:t>
            </a: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默认</a:t>
            </a:r>
            <a:r>
              <a:rPr 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 3 </a:t>
            </a:r>
            <a:r>
              <a:rPr lang="en-US" sz="2400" dirty="0" err="1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分钟到期</a:t>
            </a:r>
            <a:r>
              <a:rPr 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,</a:t>
            </a:r>
            <a:r>
              <a:rPr lang="zh-CN" altLang="en-US" sz="2400" dirty="0">
                <a:solidFill>
                  <a:srgbClr val="2D2D3A"/>
                </a:solidFill>
                <a:latin typeface="Noto Sans SC"/>
                <a:ea typeface="Noto Sans SC"/>
                <a:sym typeface="Noto Sans SC"/>
              </a:rPr>
              <a:t>期限灵活。</a:t>
            </a:r>
            <a:endParaRPr lang="en-US" sz="2400" dirty="0">
              <a:solidFill>
                <a:srgbClr val="2D2D3A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98C9E7B-C9A5-3629-F8E9-82C7CB6FE3A6}"/>
              </a:ext>
            </a:extLst>
          </p:cNvPr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结算价全部在链上完成，不需要链下预言机，也不需要信任任何节点。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9430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1000" y="2032000"/>
            <a:ext cx="1270000" cy="635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Demo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已上线 Monad，任何有价格的资产都能交易期权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0" y="4826000"/>
            <a:ext cx="4318000" cy="609600"/>
          </a:xfrm>
          <a:prstGeom prst="roundRect">
            <a:avLst>
              <a:gd name="adj" fmla="val 5000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0" y="4826000"/>
            <a:ext cx="431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irmarket-g6pflvq3o-h-fbf5.vercel.app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3790000" y="139700"/>
            <a:ext cx="46120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4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Misprice Flow</a:t>
            </a:r>
            <a:endParaRPr sz="800"/>
          </a:p>
          <a:p>
            <a:endParaRPr sz="40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18" y="1104701"/>
            <a:ext cx="10893780" cy="4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302</Words>
  <Application>Microsoft Office PowerPoint</Application>
  <PresentationFormat>Widescreen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Noto Sans SC</vt:lpstr>
      <vt:lpstr>Alfa Slab One</vt:lpstr>
      <vt:lpstr>Arial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Kurt L</cp:lastModifiedBy>
  <cp:revision>26</cp:revision>
  <dcterms:modified xsi:type="dcterms:W3CDTF">2026-09-26T08:18:58Z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{"Label":"1","ContentProducer":"001191110102MACQD9K64010000","ProduceID":"7674204023075228881","ReservedCode1":"","ContentPropagator":"","PropagateID":"","ReservedCode2":""}</vt:lpwstr>
  </property>
</Properties>
</file>