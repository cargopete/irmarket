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59" r:id="rId1"/>
    <p:sldMasterId id="2147483660" r:id="rId2"/>
  </p:sldMasterIdLst>
  <p:notesMasterIdLst>
    <p:notesMasterId r:id="rId7"/>
  </p:notesMasterIdLst>
  <p:sldIdLst>
    <p:sldId id="256" r:id="rId3"/>
    <p:sldId id="257" r:id="rId4"/>
    <p:sldId id="258" r:id="rId5"/>
    <p:sldId id="259" r:id="rId6"/>
  </p:sldIdLst>
  <p:sldSz cx="12192000" cy="68580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L="0"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L="457200"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L="914400"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L="1371600"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L="1828800"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L="2286000"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L="2743200"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L="3200400"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L="3657600"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18" d="100"/>
          <a:sy n="118" d="100"/>
        </p:scale>
        <p:origin x="126" y="384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1.xml"/><Relationship Id="rId7" Type="http://schemas.openxmlformats.org/officeDocument/2006/relationships/notesMaster" Target="notesMasters/notesMaster1.xml"/><Relationship Id="rId2" Type="http://schemas.openxmlformats.org/officeDocument/2006/relationships/slideMaster" Target="slideMasters/slideMaster2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tableStyles" Target="tableStyles.xml"/><Relationship Id="rId5" Type="http://schemas.openxmlformats.org/officeDocument/2006/relationships/slide" Target="slides/slide3.xml"/><Relationship Id="rId10" Type="http://schemas.openxmlformats.org/officeDocument/2006/relationships/theme" Target="theme/theme1.xml"/><Relationship Id="rId4" Type="http://schemas.openxmlformats.org/officeDocument/2006/relationships/slide" Target="slides/slide2.xml"/><Relationship Id="rId9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  <a:t>08.10.2026</a:t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7988891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IRMarket is a permissionless binary options market on Monad. Anyone can trade call or put options on literally any priced asset — A-share stocks, Labubu collectibles, anything. The key differentiator is that you can short assets that are impossible or expensive to short elsewhere, like A-shares. Our team is led by d1xia.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The core insight behind IRMarket is that markets without shorting mechanisms are fundamentally broken. Take A-shares for example — there's no easy way to short, so bubbles form and rational investors who see the overvaluation have no way to profit from their analysis. A market that only allows going long essentially punishes rational behavior and rewards momentum-driven irrationality. Shorting is the mechanism that makes price discovery actually work — it gives rational people a way to be right. IRMarket solves this by bringing permissionless shorting to any priced asset.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IRMarket is built as a permissionless binary options market on Monad. Four key features: first, any asset can be listed — A-share stocks, Labubu collectibles, literally anything with a price, and anyone can create a market. Second, users choose call or put, invest HKD, and instantly get position units — maximum loss is capped at the principal invested, so there's no liquidation or margin calls. Third, this means you can short anything, including assets like A-shares that are impossible to short elsewhere. Fourth, default expiry is 3 minutes but users can reverse-close anytime. Settlement prices are enforced entirely on-chain, with no off-chain oracles or trusted validators.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Now let me show you a live demo of IRMarket running on Monad. You'll see how easy it is to pick any priced asset — like an A-share stock — choose put to short it, and start trading in seconds. The live deployment is at irmarket-g6pflvq3o-h-fbf5.vercel.app.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标题幻灯片" type="title">
  <p:cSld name="TITLE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Shape 30"/>
          <p:cNvSpPr txBox="1">
            <a:spLocks noGrp="1"/>
          </p:cNvSpPr>
          <p:nvPr>
            <p:ph type="ctrTitle"/>
          </p:nvPr>
        </p:nvSpPr>
        <p:spPr>
          <a:xfrm>
            <a:off x="1143000" y="841772"/>
            <a:ext cx="6858000" cy="179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Arial"/>
              <a:buNone/>
              <a:defRPr sz="45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3" name="Shape 31"/>
          <p:cNvSpPr txBox="1">
            <a:spLocks noGrp="1"/>
          </p:cNvSpPr>
          <p:nvPr>
            <p:ph type="subTitle" idx="1"/>
          </p:nvPr>
        </p:nvSpPr>
        <p:spPr>
          <a:xfrm>
            <a:off x="1143000" y="2701528"/>
            <a:ext cx="6858000" cy="12418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1pPr>
            <a:lvl2pPr lvl="1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/>
            </a:lvl2pPr>
            <a:lvl3pPr lvl="2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3pPr>
            <a:lvl4pPr lvl="3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lvl="4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lvl="5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>
            <a:endParaRPr/>
          </a:p>
        </p:txBody>
      </p:sp>
      <p:sp>
        <p:nvSpPr>
          <p:cNvPr id="14" name="Shape 32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5" name="Shape 33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6" name="Shape 34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标题和内容" type="obj">
  <p:cSld name="OBJECT"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Shape 54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9" name="Shape 55"/>
          <p:cNvSpPr txBox="1">
            <a:spLocks noGrp="1"/>
          </p:cNvSpPr>
          <p:nvPr>
            <p:ph type="body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20" name="Shape 56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21" name="Shape 57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22" name="Shape 58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节标题" type="secHead">
  <p:cSld name="SECTION_HEADER">
    <p:spTree>
      <p:nvGrpSpPr>
        <p:cNvPr id="1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Shape 59"/>
          <p:cNvSpPr txBox="1">
            <a:spLocks noGrp="1"/>
          </p:cNvSpPr>
          <p:nvPr>
            <p:ph type="title"/>
          </p:nvPr>
        </p:nvSpPr>
        <p:spPr>
          <a:xfrm>
            <a:off x="623888" y="1282304"/>
            <a:ext cx="7886700" cy="213955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Arial"/>
              <a:buNone/>
              <a:defRPr sz="45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25" name="Shape 60"/>
          <p:cNvSpPr txBox="1">
            <a:spLocks noGrp="1"/>
          </p:cNvSpPr>
          <p:nvPr>
            <p:ph type="body" idx="1"/>
          </p:nvPr>
        </p:nvSpPr>
        <p:spPr>
          <a:xfrm>
            <a:off x="623888" y="3442097"/>
            <a:ext cx="7886700" cy="11251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 sz="15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26" name="Shape 61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27" name="Shape 62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28" name="Shape 63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两栏内容" type="twoObj">
  <p:cSld name="TWO_OBJECTS">
    <p:spTree>
      <p:nvGrpSpPr>
        <p:cNvPr id="1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Shape 9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31" name="Shape 10"/>
          <p:cNvSpPr txBox="1">
            <a:spLocks noGrp="1"/>
          </p:cNvSpPr>
          <p:nvPr>
            <p:ph type="body" idx="1"/>
          </p:nvPr>
        </p:nvSpPr>
        <p:spPr>
          <a:xfrm>
            <a:off x="628650" y="1369219"/>
            <a:ext cx="38862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32" name="Shape 11"/>
          <p:cNvSpPr txBox="1">
            <a:spLocks noGrp="1"/>
          </p:cNvSpPr>
          <p:nvPr>
            <p:ph type="body" idx="2"/>
          </p:nvPr>
        </p:nvSpPr>
        <p:spPr>
          <a:xfrm>
            <a:off x="4629150" y="1369219"/>
            <a:ext cx="38862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33" name="Shape 12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34" name="Shape 13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35" name="Shape 14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比较" type="twoTxTwoObj">
  <p:cSld name="TWO_OBJECTS_WITH_TEXT">
    <p:spTree>
      <p:nvGrpSpPr>
        <p:cNvPr id="1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Shape 35"/>
          <p:cNvSpPr txBox="1">
            <a:spLocks noGrp="1"/>
          </p:cNvSpPr>
          <p:nvPr>
            <p:ph type="title"/>
          </p:nvPr>
        </p:nvSpPr>
        <p:spPr>
          <a:xfrm>
            <a:off x="629841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38" name="Shape 36"/>
          <p:cNvSpPr txBox="1">
            <a:spLocks noGrp="1"/>
          </p:cNvSpPr>
          <p:nvPr>
            <p:ph type="body" idx="1"/>
          </p:nvPr>
        </p:nvSpPr>
        <p:spPr>
          <a:xfrm>
            <a:off x="629841" y="1260872"/>
            <a:ext cx="3868340" cy="6179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1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>
            <a:endParaRPr/>
          </a:p>
        </p:txBody>
      </p:sp>
      <p:sp>
        <p:nvSpPr>
          <p:cNvPr id="39" name="Shape 37"/>
          <p:cNvSpPr txBox="1">
            <a:spLocks noGrp="1"/>
          </p:cNvSpPr>
          <p:nvPr>
            <p:ph type="body" idx="2"/>
          </p:nvPr>
        </p:nvSpPr>
        <p:spPr>
          <a:xfrm>
            <a:off x="629841" y="1878806"/>
            <a:ext cx="3868340" cy="27634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40" name="Shape 38"/>
          <p:cNvSpPr txBox="1">
            <a:spLocks noGrp="1"/>
          </p:cNvSpPr>
          <p:nvPr>
            <p:ph type="body" idx="3"/>
          </p:nvPr>
        </p:nvSpPr>
        <p:spPr>
          <a:xfrm>
            <a:off x="4629150" y="1260872"/>
            <a:ext cx="3887391" cy="6179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1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>
            <a:endParaRPr/>
          </a:p>
        </p:txBody>
      </p:sp>
      <p:sp>
        <p:nvSpPr>
          <p:cNvPr id="41" name="Shape 39"/>
          <p:cNvSpPr txBox="1">
            <a:spLocks noGrp="1"/>
          </p:cNvSpPr>
          <p:nvPr>
            <p:ph type="body" idx="4"/>
          </p:nvPr>
        </p:nvSpPr>
        <p:spPr>
          <a:xfrm>
            <a:off x="4629150" y="1878806"/>
            <a:ext cx="3887391" cy="27634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42" name="Shape 40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43" name="Shape 41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44" name="Shape 42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仅标题" type="titleOnly">
  <p:cSld name="TITLE_ONLY">
    <p:spTree>
      <p:nvGrpSpPr>
        <p:cNvPr id="1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Shape 20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47" name="Shape 21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48" name="Shape 22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49" name="Shape 23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空白" type="blank">
  <p:cSld name="BLANK"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Shape 6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52" name="Shape 7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53" name="Shape 8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内容与标题" type="objTx">
  <p:cSld name="OBJECT_WITH_CAPTION_TEXT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Shape 43"/>
          <p:cNvSpPr txBox="1"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56" name="Shape 44"/>
          <p:cNvSpPr txBox="1">
            <a:spLocks noGrp="1"/>
          </p:cNvSpPr>
          <p:nvPr>
            <p:ph type="body" idx="1"/>
          </p:nvPr>
        </p:nvSpPr>
        <p:spPr>
          <a:xfrm>
            <a:off x="3887391" y="740569"/>
            <a:ext cx="4629150" cy="36552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810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619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 sz="2100"/>
            </a:lvl2pPr>
            <a:lvl3pPr marL="1371600" lvl="2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4pPr>
            <a:lvl5pPr marL="2286000" lvl="4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5pPr>
            <a:lvl6pPr marL="2743200" lvl="5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6pPr>
            <a:lvl7pPr marL="3200400" lvl="6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7pPr>
            <a:lvl8pPr marL="3657600" lvl="7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8pPr>
            <a:lvl9pPr marL="4114800" lvl="8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9pPr>
          </a:lstStyle>
          <a:p>
            <a:endParaRPr/>
          </a:p>
        </p:txBody>
      </p:sp>
      <p:sp>
        <p:nvSpPr>
          <p:cNvPr id="57" name="Shape 45"/>
          <p:cNvSpPr txBox="1">
            <a:spLocks noGrp="1"/>
          </p:cNvSpPr>
          <p:nvPr>
            <p:ph type="body" idx="2"/>
          </p:nvPr>
        </p:nvSpPr>
        <p:spPr>
          <a:xfrm>
            <a:off x="629841" y="1543050"/>
            <a:ext cx="2949178" cy="28586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>
            <a:endParaRPr/>
          </a:p>
        </p:txBody>
      </p:sp>
      <p:sp>
        <p:nvSpPr>
          <p:cNvPr id="58" name="Shape 46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59" name="Shape 47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60" name="Shape 48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图片与标题" type="picTx">
  <p:cSld name="PICTURE_WITH_CAPTION_TEX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Shape 24"/>
          <p:cNvSpPr txBox="1"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63" name="Shape 25"/>
          <p:cNvSpPr>
            <a:spLocks noGrp="1"/>
          </p:cNvSpPr>
          <p:nvPr>
            <p:ph type="pic" idx="2"/>
          </p:nvPr>
        </p:nvSpPr>
        <p:spPr>
          <a:xfrm>
            <a:off x="3887391" y="740569"/>
            <a:ext cx="4629150" cy="3655219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Shape 26"/>
          <p:cNvSpPr txBox="1">
            <a:spLocks noGrp="1"/>
          </p:cNvSpPr>
          <p:nvPr>
            <p:ph type="body" idx="1"/>
          </p:nvPr>
        </p:nvSpPr>
        <p:spPr>
          <a:xfrm>
            <a:off x="629841" y="1543050"/>
            <a:ext cx="2949178" cy="28586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>
            <a:endParaRPr/>
          </a:p>
        </p:txBody>
      </p:sp>
      <p:sp>
        <p:nvSpPr>
          <p:cNvPr id="65" name="Shape 27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66" name="Shape 28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67" name="Shape 29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标题和竖排文字" type="vertTx">
  <p:cSld name="VERTICAL_TEX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Shape 49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70" name="Shape 50"/>
          <p:cNvSpPr txBox="1">
            <a:spLocks noGrp="1"/>
          </p:cNvSpPr>
          <p:nvPr>
            <p:ph type="body" idx="1"/>
          </p:nvPr>
        </p:nvSpPr>
        <p:spPr>
          <a:xfrm rot="5400000">
            <a:off x="2940248" y="-942379"/>
            <a:ext cx="3263504" cy="788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71" name="Shape 51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72" name="Shape 52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73" name="Shape 53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竖排标题与文本" type="vertTitleAndTx">
  <p:cSld name="VERTICAL_TITLE_AND_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Shape 15"/>
          <p:cNvSpPr txBox="1">
            <a:spLocks noGrp="1"/>
          </p:cNvSpPr>
          <p:nvPr>
            <p:ph type="title"/>
          </p:nvPr>
        </p:nvSpPr>
        <p:spPr>
          <a:xfrm rot="5400000">
            <a:off x="5350073" y="1467445"/>
            <a:ext cx="4358879" cy="19716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76" name="Shape 16"/>
          <p:cNvSpPr txBox="1">
            <a:spLocks noGrp="1"/>
          </p:cNvSpPr>
          <p:nvPr>
            <p:ph type="body" idx="1"/>
          </p:nvPr>
        </p:nvSpPr>
        <p:spPr>
          <a:xfrm rot="5400000">
            <a:off x="1349573" y="-447080"/>
            <a:ext cx="4358879" cy="58007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77" name="Shape 17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78" name="Shape 18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79" name="Shape 19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1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hape 1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Arial"/>
              <a:buNone/>
              <a:defRPr sz="33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9pPr>
          </a:lstStyle>
          <a:p>
            <a:endParaRPr/>
          </a:p>
        </p:txBody>
      </p:sp>
      <p:sp>
        <p:nvSpPr>
          <p:cNvPr id="7" name="Shape 2"/>
          <p:cNvSpPr txBox="1">
            <a:spLocks noGrp="1"/>
          </p:cNvSpPr>
          <p:nvPr>
            <p:ph type="body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marR="0" lvl="0" indent="-36195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•"/>
              <a:defRPr sz="2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8" name="Shape 3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9" name="Shape 4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100"/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0" name="Shape 5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默认主题"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57483699" r:id="rId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" name="AutoShape 3"/>
          <p:cNvSpPr/>
          <p:nvPr/>
        </p:nvSpPr>
        <p:spPr>
          <a:xfrm>
            <a:off x="9906000" y="762000"/>
            <a:ext cx="1778000" cy="1778000"/>
          </a:xfrm>
          <a:prstGeom prst="ellipse">
            <a:avLst/>
          </a:prstGeom>
          <a:solidFill>
            <a:srgbClr val="836EF9">
              <a:alpha val="8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4" name="AutoShape 4"/>
          <p:cNvSpPr/>
          <p:nvPr/>
        </p:nvSpPr>
        <p:spPr>
          <a:xfrm>
            <a:off x="10414000" y="4826000"/>
            <a:ext cx="1270000" cy="1270000"/>
          </a:xfrm>
          <a:prstGeom prst="ellipse">
            <a:avLst/>
          </a:prstGeom>
          <a:solidFill>
            <a:srgbClr val="836EF9">
              <a:alpha val="6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5" name="AutoShape 5"/>
          <p:cNvSpPr/>
          <p:nvPr/>
        </p:nvSpPr>
        <p:spPr>
          <a:xfrm>
            <a:off x="762000" y="2540000"/>
            <a:ext cx="1016000" cy="76200"/>
          </a:xfrm>
          <a:prstGeom prst="roundRect">
            <a:avLst>
              <a:gd name="adj" fmla="val 0"/>
            </a:avLst>
          </a:prstGeom>
          <a:solidFill>
            <a:srgbClr val="836EF9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6" name="AutoShape 6"/>
          <p:cNvSpPr/>
          <p:nvPr/>
        </p:nvSpPr>
        <p:spPr>
          <a:xfrm>
            <a:off x="762000" y="2794000"/>
            <a:ext cx="8890000" cy="1270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6400" b="1" i="0" u="none" strike="noStrike">
                <a:solidFill>
                  <a:srgbClr val="836EF9"/>
                </a:solidFill>
                <a:latin typeface="Noto Sans SC"/>
                <a:ea typeface="Noto Sans SC"/>
                <a:cs typeface="Noto Sans SC"/>
                <a:sym typeface="Noto Sans SC"/>
              </a:rPr>
              <a:t>IRMarket</a:t>
            </a:r>
            <a:endParaRPr lang="en-US" sz="1100"/>
          </a:p>
        </p:txBody>
      </p:sp>
      <p:sp>
        <p:nvSpPr>
          <p:cNvPr id="7" name="AutoShape 7"/>
          <p:cNvSpPr/>
          <p:nvPr/>
        </p:nvSpPr>
        <p:spPr>
          <a:xfrm>
            <a:off x="762000" y="4191000"/>
            <a:ext cx="93980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6666"/>
              </a:lnSpc>
              <a:defRPr/>
            </a:pPr>
            <a:r>
              <a:rPr lang="en-US" sz="2200" b="1" i="0" u="none" strike="noStrike">
                <a:solidFill>
                  <a:srgbClr val="2D2D3A"/>
                </a:solidFill>
                <a:latin typeface="Noto Sans SC"/>
                <a:ea typeface="Noto Sans SC"/>
                <a:cs typeface="Noto Sans SC"/>
                <a:sym typeface="Noto Sans SC"/>
              </a:rPr>
              <a:t>Trade options on anything. Short A-shares, short Labubu, short whatever has a price.</a:t>
            </a:r>
            <a:endParaRPr lang="en-US" sz="1100"/>
          </a:p>
        </p:txBody>
      </p:sp>
      <p:sp>
        <p:nvSpPr>
          <p:cNvPr id="8" name="AutoShape 8"/>
          <p:cNvSpPr/>
          <p:nvPr/>
        </p:nvSpPr>
        <p:spPr>
          <a:xfrm>
            <a:off x="762000" y="5588000"/>
            <a:ext cx="3810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400" b="0" i="0" u="none" strike="noStrike">
                <a:solidFill>
                  <a:srgbClr val="6B7280"/>
                </a:solidFill>
                <a:latin typeface="Noto Sans SC"/>
                <a:ea typeface="Noto Sans SC"/>
                <a:cs typeface="Noto Sans SC"/>
                <a:sym typeface="Noto Sans SC"/>
              </a:rPr>
              <a:t>Team: d1xia</a:t>
            </a:r>
            <a:endParaRPr lang="en-US" sz="11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" name="AutoShape 3"/>
          <p:cNvSpPr/>
          <p:nvPr/>
        </p:nvSpPr>
        <p:spPr>
          <a:xfrm>
            <a:off x="762000" y="635000"/>
            <a:ext cx="762000" cy="50800"/>
          </a:xfrm>
          <a:prstGeom prst="roundRect">
            <a:avLst>
              <a:gd name="adj" fmla="val 0"/>
            </a:avLst>
          </a:prstGeom>
          <a:solidFill>
            <a:srgbClr val="836EF9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4" name="AutoShape 4"/>
          <p:cNvSpPr/>
          <p:nvPr/>
        </p:nvSpPr>
        <p:spPr>
          <a:xfrm>
            <a:off x="762000" y="825500"/>
            <a:ext cx="106680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333"/>
              </a:lnSpc>
              <a:defRPr/>
            </a:pPr>
            <a:r>
              <a:rPr lang="en-US" sz="2800" b="1" i="0" u="none" strike="noStrike">
                <a:solidFill>
                  <a:srgbClr val="836EF9"/>
                </a:solidFill>
                <a:latin typeface="Noto Sans SC"/>
                <a:ea typeface="Noto Sans SC"/>
                <a:cs typeface="Noto Sans SC"/>
                <a:sym typeface="Noto Sans SC"/>
              </a:rPr>
              <a:t>Markets that can't be shorted only reward irrational behavior.</a:t>
            </a:r>
            <a:endParaRPr lang="en-US" sz="1100"/>
          </a:p>
        </p:txBody>
      </p:sp>
      <p:sp>
        <p:nvSpPr>
          <p:cNvPr id="5" name="AutoShape 5"/>
          <p:cNvSpPr/>
          <p:nvPr/>
        </p:nvSpPr>
        <p:spPr>
          <a:xfrm>
            <a:off x="762000" y="2159000"/>
            <a:ext cx="10668000" cy="3302000"/>
          </a:xfrm>
          <a:prstGeom prst="roundRect">
            <a:avLst>
              <a:gd name="adj" fmla="val 0"/>
            </a:avLst>
          </a:prstGeom>
          <a:solidFill>
            <a:srgbClr val="836EF9">
              <a:alpha val="4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6" name="AutoShape 6"/>
          <p:cNvSpPr/>
          <p:nvPr/>
        </p:nvSpPr>
        <p:spPr>
          <a:xfrm>
            <a:off x="1143000" y="2476500"/>
            <a:ext cx="9906000" cy="2667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203200" indent="-203200" algn="l">
              <a:lnSpc>
                <a:spcPct val="150000"/>
              </a:lnSpc>
              <a:buClr>
                <a:srgbClr val="2D2D3A"/>
              </a:buClr>
              <a:buChar char="•"/>
              <a:defRPr/>
            </a:pPr>
            <a:r>
              <a:rPr lang="en-US" sz="1600" b="0" i="0" u="none" strike="noStrike">
                <a:solidFill>
                  <a:srgbClr val="2D2D3A"/>
                </a:solidFill>
                <a:latin typeface="Noto Sans SC"/>
                <a:ea typeface="Noto Sans SC"/>
                <a:cs typeface="Noto Sans SC"/>
                <a:sym typeface="Noto Sans SC"/>
              </a:rPr>
              <a:t>A-shares: no easy shorting → bubbles form, rational investors have no way to express bearish views</a:t>
            </a:r>
            <a:endParaRPr lang="en-US" sz="1100"/>
          </a:p>
          <a:p>
            <a:pPr marL="203200" indent="-203200" algn="l">
              <a:lnSpc>
                <a:spcPct val="150000"/>
              </a:lnSpc>
              <a:buClr>
                <a:srgbClr val="2D2D3A"/>
              </a:buClr>
              <a:buChar char="•"/>
            </a:pPr>
            <a:r>
              <a:rPr lang="en-US" sz="1600" b="0" i="0" u="none" strike="noStrike">
                <a:solidFill>
                  <a:srgbClr val="2D2D3A"/>
                </a:solidFill>
                <a:latin typeface="Noto Sans SC"/>
                <a:ea typeface="Noto Sans SC"/>
                <a:cs typeface="Noto Sans SC"/>
                <a:sym typeface="Noto Sans SC"/>
              </a:rPr>
              <a:t>A market where you can only go long is a market that punishes reason</a:t>
            </a:r>
          </a:p>
          <a:p>
            <a:pPr marL="203200" indent="-203200" algn="l">
              <a:lnSpc>
                <a:spcPct val="150000"/>
              </a:lnSpc>
              <a:buClr>
                <a:srgbClr val="2D2D3A"/>
              </a:buClr>
              <a:buChar char="•"/>
            </a:pPr>
            <a:r>
              <a:rPr lang="en-US" sz="1600" b="0" i="0" u="none" strike="noStrike">
                <a:solidFill>
                  <a:srgbClr val="2D2D3A"/>
                </a:solidFill>
                <a:latin typeface="Noto Sans SC"/>
                <a:ea typeface="Noto Sans SC"/>
                <a:cs typeface="Noto Sans SC"/>
                <a:sym typeface="Noto Sans SC"/>
              </a:rPr>
              <a:t>Shorting is what makes price discovery work — it gives rational people a mechanism to be right</a:t>
            </a:r>
          </a:p>
        </p:txBody>
      </p:sp>
      <p:sp>
        <p:nvSpPr>
          <p:cNvPr id="7" name="AutoShape 7"/>
          <p:cNvSpPr/>
          <p:nvPr/>
        </p:nvSpPr>
        <p:spPr>
          <a:xfrm>
            <a:off x="762000" y="5842000"/>
            <a:ext cx="10668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836EF9"/>
                </a:solidFill>
                <a:latin typeface="Noto Sans SC"/>
                <a:ea typeface="Noto Sans SC"/>
                <a:cs typeface="Noto Sans SC"/>
                <a:sym typeface="Noto Sans SC"/>
              </a:rPr>
              <a:t>IRMarket brings permissionless shorting to any priced asset.</a:t>
            </a:r>
            <a:endParaRPr lang="en-US" sz="110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" name="AutoShape 3"/>
          <p:cNvSpPr/>
          <p:nvPr/>
        </p:nvSpPr>
        <p:spPr>
          <a:xfrm>
            <a:off x="762000" y="635000"/>
            <a:ext cx="762000" cy="50800"/>
          </a:xfrm>
          <a:prstGeom prst="roundRect">
            <a:avLst>
              <a:gd name="adj" fmla="val 0"/>
            </a:avLst>
          </a:prstGeom>
          <a:solidFill>
            <a:srgbClr val="836EF9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4" name="AutoShape 4"/>
          <p:cNvSpPr/>
          <p:nvPr/>
        </p:nvSpPr>
        <p:spPr>
          <a:xfrm>
            <a:off x="762000" y="825500"/>
            <a:ext cx="10668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000" b="1" i="0" u="none" strike="noStrike">
                <a:solidFill>
                  <a:srgbClr val="836EF9"/>
                </a:solidFill>
                <a:latin typeface="Noto Sans SC"/>
                <a:ea typeface="Noto Sans SC"/>
                <a:cs typeface="Noto Sans SC"/>
                <a:sym typeface="Noto Sans SC"/>
              </a:rPr>
              <a:t>A permissionless binary options market on Monad.</a:t>
            </a:r>
            <a:endParaRPr lang="en-US" sz="1100"/>
          </a:p>
        </p:txBody>
      </p:sp>
      <p:sp>
        <p:nvSpPr>
          <p:cNvPr id="5" name="AutoShape 5"/>
          <p:cNvSpPr/>
          <p:nvPr/>
        </p:nvSpPr>
        <p:spPr>
          <a:xfrm>
            <a:off x="762000" y="1905000"/>
            <a:ext cx="10668000" cy="3556000"/>
          </a:xfrm>
          <a:prstGeom prst="roundRect">
            <a:avLst>
              <a:gd name="adj" fmla="val 0"/>
            </a:avLst>
          </a:prstGeom>
          <a:solidFill>
            <a:srgbClr val="836EF9">
              <a:alpha val="4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6" name="AutoShape 6"/>
          <p:cNvSpPr/>
          <p:nvPr/>
        </p:nvSpPr>
        <p:spPr>
          <a:xfrm>
            <a:off x="1143000" y="2222500"/>
            <a:ext cx="9906000" cy="292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203200" indent="-203200" algn="l">
              <a:lnSpc>
                <a:spcPct val="150000"/>
              </a:lnSpc>
              <a:buClr>
                <a:srgbClr val="836EF9"/>
              </a:buClr>
              <a:buChar char="•"/>
              <a:defRPr/>
            </a:pPr>
            <a:r>
              <a:rPr lang="en-US" sz="1600" b="1" i="0" u="none" strike="noStrike">
                <a:solidFill>
                  <a:srgbClr val="836EF9"/>
                </a:solidFill>
                <a:latin typeface="Noto Sans SC"/>
                <a:ea typeface="Noto Sans SC"/>
                <a:cs typeface="Noto Sans SC"/>
                <a:sym typeface="Noto Sans SC"/>
              </a:rPr>
              <a:t>Any asset</a:t>
            </a:r>
            <a:r>
              <a:rPr lang="en-US" sz="1600" b="0" i="0" u="none" strike="noStrike">
                <a:solidFill>
                  <a:srgbClr val="2D2D3A"/>
                </a:solidFill>
                <a:latin typeface="Noto Sans SC"/>
                <a:ea typeface="Noto Sans SC"/>
                <a:cs typeface="Noto Sans SC"/>
                <a:sym typeface="Noto Sans SC"/>
              </a:rPr>
              <a:t> — A-share stocks, Labubu, anything with a price. Anyone can list a market</a:t>
            </a:r>
            <a:endParaRPr lang="en-US" sz="1100"/>
          </a:p>
          <a:p>
            <a:pPr marL="203200" indent="-203200" algn="l">
              <a:lnSpc>
                <a:spcPct val="150000"/>
              </a:lnSpc>
              <a:buClr>
                <a:srgbClr val="836EF9"/>
              </a:buClr>
              <a:buChar char="•"/>
            </a:pPr>
            <a:r>
              <a:rPr lang="en-US" sz="1600" b="1" i="0" u="none" strike="noStrike">
                <a:solidFill>
                  <a:srgbClr val="836EF9"/>
                </a:solidFill>
                <a:latin typeface="Noto Sans SC"/>
                <a:ea typeface="Noto Sans SC"/>
                <a:cs typeface="Noto Sans SC"/>
                <a:sym typeface="Noto Sans SC"/>
              </a:rPr>
              <a:t>Call or put</a:t>
            </a:r>
            <a:r>
              <a:rPr lang="en-US" sz="1600" b="0" i="0" u="none" strike="noStrike">
                <a:solidFill>
                  <a:srgbClr val="2D2D3A"/>
                </a:solidFill>
                <a:latin typeface="Noto Sans SC"/>
                <a:ea typeface="Noto Sans SC"/>
                <a:cs typeface="Noto Sans SC"/>
                <a:sym typeface="Noto Sans SC"/>
              </a:rPr>
              <a:t> — invest HKD, get position units instantly. Max loss = principal, no liquidation, no margin calls</a:t>
            </a:r>
          </a:p>
          <a:p>
            <a:pPr marL="203200" indent="-203200" algn="l">
              <a:lnSpc>
                <a:spcPct val="150000"/>
              </a:lnSpc>
              <a:buClr>
                <a:srgbClr val="836EF9"/>
              </a:buClr>
              <a:buChar char="•"/>
            </a:pPr>
            <a:r>
              <a:rPr lang="en-US" sz="1600" b="1" i="0" u="none" strike="noStrike">
                <a:solidFill>
                  <a:srgbClr val="836EF9"/>
                </a:solidFill>
                <a:latin typeface="Noto Sans SC"/>
                <a:ea typeface="Noto Sans SC"/>
                <a:cs typeface="Noto Sans SC"/>
                <a:sym typeface="Noto Sans SC"/>
              </a:rPr>
              <a:t>Short anything</a:t>
            </a:r>
            <a:r>
              <a:rPr lang="en-US" sz="1600" b="0" i="0" u="none" strike="noStrike">
                <a:solidFill>
                  <a:srgbClr val="2D2D3A"/>
                </a:solidFill>
                <a:latin typeface="Noto Sans SC"/>
                <a:ea typeface="Noto Sans SC"/>
                <a:cs typeface="Noto Sans SC"/>
                <a:sym typeface="Noto Sans SC"/>
              </a:rPr>
              <a:t> — including assets you can't short anywhere else, like A-shares</a:t>
            </a:r>
          </a:p>
          <a:p>
            <a:pPr marL="203200" indent="-203200" algn="l">
              <a:lnSpc>
                <a:spcPct val="150000"/>
              </a:lnSpc>
              <a:buClr>
                <a:srgbClr val="836EF9"/>
              </a:buClr>
              <a:buChar char="•"/>
            </a:pPr>
            <a:r>
              <a:rPr lang="en-US" sz="1600" b="1" i="0" u="none" strike="noStrike">
                <a:solidFill>
                  <a:srgbClr val="836EF9"/>
                </a:solidFill>
                <a:latin typeface="Noto Sans SC"/>
                <a:ea typeface="Noto Sans SC"/>
                <a:cs typeface="Noto Sans SC"/>
                <a:sym typeface="Noto Sans SC"/>
              </a:rPr>
              <a:t>Default 3-minute expiry</a:t>
            </a:r>
            <a:r>
              <a:rPr lang="en-US" sz="1600" b="0" i="0" u="none" strike="noStrike">
                <a:solidFill>
                  <a:srgbClr val="2D2D3A"/>
                </a:solidFill>
                <a:latin typeface="Noto Sans SC"/>
                <a:ea typeface="Noto Sans SC"/>
                <a:cs typeface="Noto Sans SC"/>
                <a:sym typeface="Noto Sans SC"/>
              </a:rPr>
              <a:t>, reverse-close anytime</a:t>
            </a:r>
          </a:p>
        </p:txBody>
      </p:sp>
      <p:sp>
        <p:nvSpPr>
          <p:cNvPr id="7" name="AutoShape 7"/>
          <p:cNvSpPr/>
          <p:nvPr/>
        </p:nvSpPr>
        <p:spPr>
          <a:xfrm>
            <a:off x="762000" y="5842000"/>
            <a:ext cx="10668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500" b="0" i="0" u="none" strike="noStrike">
                <a:solidFill>
                  <a:srgbClr val="6B7280"/>
                </a:solidFill>
                <a:latin typeface="Noto Sans SC"/>
                <a:ea typeface="Noto Sans SC"/>
                <a:cs typeface="Noto Sans SC"/>
                <a:sym typeface="Noto Sans SC"/>
              </a:rPr>
              <a:t>Settlement prices are enforced on-chain — no off-chain oracles, no trusted validators.</a:t>
            </a:r>
            <a:endParaRPr lang="en-US" sz="110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" name="AutoShape 3"/>
          <p:cNvSpPr/>
          <p:nvPr/>
        </p:nvSpPr>
        <p:spPr>
          <a:xfrm>
            <a:off x="5461000" y="2032000"/>
            <a:ext cx="1270000" cy="63500"/>
          </a:xfrm>
          <a:prstGeom prst="roundRect">
            <a:avLst>
              <a:gd name="adj" fmla="val 0"/>
            </a:avLst>
          </a:prstGeom>
          <a:solidFill>
            <a:srgbClr val="836EF9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4" name="AutoShape 4"/>
          <p:cNvSpPr/>
          <p:nvPr/>
        </p:nvSpPr>
        <p:spPr>
          <a:xfrm>
            <a:off x="762000" y="2286000"/>
            <a:ext cx="10668000" cy="152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7200" b="1" i="0" u="none" strike="noStrike">
                <a:solidFill>
                  <a:srgbClr val="836EF9"/>
                </a:solidFill>
                <a:latin typeface="Noto Sans SC"/>
                <a:ea typeface="Noto Sans SC"/>
                <a:cs typeface="Noto Sans SC"/>
                <a:sym typeface="Noto Sans SC"/>
              </a:rPr>
              <a:t>Demo</a:t>
            </a:r>
            <a:endParaRPr lang="en-US" sz="1100"/>
          </a:p>
        </p:txBody>
      </p:sp>
      <p:sp>
        <p:nvSpPr>
          <p:cNvPr id="5" name="AutoShape 5"/>
          <p:cNvSpPr/>
          <p:nvPr/>
        </p:nvSpPr>
        <p:spPr>
          <a:xfrm>
            <a:off x="762000" y="3937000"/>
            <a:ext cx="10668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800" b="0" i="0" u="none" strike="noStrike">
                <a:solidFill>
                  <a:srgbClr val="6B7280"/>
                </a:solidFill>
                <a:latin typeface="Noto Sans SC"/>
                <a:ea typeface="Noto Sans SC"/>
                <a:cs typeface="Noto Sans SC"/>
                <a:sym typeface="Noto Sans SC"/>
              </a:rPr>
              <a:t>Live on Monad — trade options on any priced asset</a:t>
            </a:r>
            <a:endParaRPr lang="en-US" sz="1100"/>
          </a:p>
        </p:txBody>
      </p:sp>
      <p:sp>
        <p:nvSpPr>
          <p:cNvPr id="6" name="AutoShape 6"/>
          <p:cNvSpPr/>
          <p:nvPr/>
        </p:nvSpPr>
        <p:spPr>
          <a:xfrm>
            <a:off x="3937000" y="4826000"/>
            <a:ext cx="4318000" cy="609600"/>
          </a:xfrm>
          <a:prstGeom prst="roundRect">
            <a:avLst>
              <a:gd name="adj" fmla="val 50000"/>
            </a:avLst>
          </a:prstGeom>
          <a:solidFill>
            <a:srgbClr val="836EF9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7" name="AutoShape 7"/>
          <p:cNvSpPr/>
          <p:nvPr/>
        </p:nvSpPr>
        <p:spPr>
          <a:xfrm>
            <a:off x="3937000" y="4826000"/>
            <a:ext cx="4318000" cy="609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altLang="zh-CN" sz="1400" b="1" i="0" u="none" strike="noStrike" dirty="0" err="1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Irmarket.xyz</a:t>
            </a:r>
            <a:endParaRPr lang="en-US" sz="1100" dirty="0"/>
          </a:p>
        </p:txBody>
      </p:sp>
      <p:pic>
        <p:nvPicPr>
          <p:cNvPr id="8" name="Picture 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68000" y="6190112"/>
            <a:ext cx="1524000" cy="667888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默认主题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主题​​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526</Words>
  <Application>Microsoft Office PowerPoint</Application>
  <PresentationFormat>Widescreen</PresentationFormat>
  <Paragraphs>29</Paragraphs>
  <Slides>4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4</vt:i4>
      </vt:variant>
    </vt:vector>
  </HeadingPairs>
  <TitlesOfParts>
    <vt:vector size="8" baseType="lpstr">
      <vt:lpstr>Noto Sans SC</vt:lpstr>
      <vt:lpstr>Arial</vt:lpstr>
      <vt:lpstr>Office 主题​​</vt:lpstr>
      <vt:lpstr>默认主题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Kurt L</dc:creator>
  <cp:lastModifiedBy>Kurt L</cp:lastModifiedBy>
  <cp:revision>2</cp:revision>
  <dcterms:modified xsi:type="dcterms:W3CDTF">2026-10-08T14:55:57Z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IGC">
    <vt:lpwstr>{"Label":"1","ContentProducer":"001191110102MACQD9K64010000","ProduceID":"7674199146265922800","ReservedCode1":"","ContentPropagator":"","PropagateID":"","ReservedCode2":""}</vt:lpwstr>
  </property>
</Properties>
</file>