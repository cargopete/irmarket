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Alfa Slab One" panose="02010600030101010101" charset="0"/>
      <p:regular r:id="rId15"/>
    </p:embeddedFont>
    <p:embeddedFont>
      <p:font typeface="Proxima Nova" panose="02010600030101010101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120" y="91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38dc88d6a3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38dc88d6a3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40ceccadc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40ceccadc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Chainlink is controlled by 20+ entries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is time-delayed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is upload but not verified.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0ceccadc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0ceccadc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Permissless no need oracle token not need have server or it team</a:t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We have two type users price provider provide price... the skin-in-the-game not only to the oracle token but also the asset the price is pricing</a:t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but have incentive and with the price they are providing</a:t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Verifier have incentive to correct price</a:t>
            </a:r>
            <a:endParaRPr sz="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40ceccadca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40ceccadca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40ceccadc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40ceccadc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414badf81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414badf810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 add deposit asset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414badf81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414badf81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40fee006f4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40fee006f4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8dc88d6a3_2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38dc88d6a3_2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bit technical content, architect content here Solana has almost deterministic finality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how does it work?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63a14e03b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63a14e03b0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40ceccadc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40ceccadc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ameday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836EF9"/>
                </a:solidFill>
              </a:rPr>
              <a:t>Monoracle</a:t>
            </a:r>
            <a:endParaRPr sz="6000">
              <a:solidFill>
                <a:srgbClr val="836EF9"/>
              </a:solidFill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Fully decentralised on-chain Oracle</a:t>
            </a:r>
            <a:endParaRPr sz="26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based on game theory</a:t>
            </a:r>
            <a:endParaRPr sz="2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22" dirty="0">
                <a:solidFill>
                  <a:srgbClr val="836EF9"/>
                </a:solidFill>
              </a:rPr>
              <a:t>Monoracle</a:t>
            </a:r>
            <a:endParaRPr sz="1222" dirty="0">
              <a:solidFill>
                <a:srgbClr val="836EF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430518" cy="33410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000" dirty="0"/>
              <a:t>A decentralized price Oracle</a:t>
            </a:r>
            <a:endParaRPr lang="en-US" sz="3600" dirty="0"/>
          </a:p>
          <a:p>
            <a:pPr lvl="0" indent="-438150">
              <a:spcBef>
                <a:spcPts val="1200"/>
              </a:spcBef>
              <a:buSzPts val="3300"/>
            </a:pPr>
            <a:r>
              <a:rPr lang="en-US" sz="3600" b="1" dirty="0"/>
              <a:t>Permissionless price oracle quotation and feed creation</a:t>
            </a:r>
          </a:p>
          <a:p>
            <a:pPr lvl="0" indent="-438150">
              <a:buSzPts val="3300"/>
            </a:pPr>
            <a:r>
              <a:rPr lang="en-US" sz="3600" b="1" dirty="0"/>
              <a:t>Verified </a:t>
            </a:r>
            <a:r>
              <a:rPr lang="en-US" sz="3600" dirty="0"/>
              <a:t>on-chain </a:t>
            </a:r>
            <a:r>
              <a:rPr lang="en-US" sz="3600" b="1" dirty="0"/>
              <a:t>and agentic native</a:t>
            </a:r>
          </a:p>
          <a:p>
            <a:pPr lvl="0" indent="-438150">
              <a:buSzPts val="3300"/>
            </a:pPr>
            <a:r>
              <a:rPr lang="en-US" sz="3600" dirty="0"/>
              <a:t>More </a:t>
            </a:r>
            <a:r>
              <a:rPr lang="en-US" sz="3600" b="1" dirty="0"/>
              <a:t>secure </a:t>
            </a:r>
            <a:r>
              <a:rPr lang="en-US" sz="3600" dirty="0"/>
              <a:t>price oracle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414050" y="678750"/>
            <a:ext cx="8156100" cy="43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 sz="3600"/>
              <a:t>Centralised therefore vulnerable </a:t>
            </a:r>
            <a:endParaRPr sz="360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 sz="3600"/>
              <a:t>Price is heavily delayed</a:t>
            </a:r>
            <a:endParaRPr sz="360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 sz="3600"/>
              <a:t>Essentially it is just data uploading without </a:t>
            </a:r>
            <a:r>
              <a:rPr lang="en" sz="3600" i="1"/>
              <a:t>verification</a:t>
            </a:r>
            <a:endParaRPr sz="6000" i="1"/>
          </a:p>
        </p:txBody>
      </p:sp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440"/>
              <a:t>Current Design</a:t>
            </a:r>
            <a:endParaRPr sz="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581025" y="242455"/>
            <a:ext cx="8334300" cy="421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Price market tested with skin-in-the-game</a:t>
            </a:r>
            <a:endParaRPr sz="4000"/>
          </a:p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On chain settle, dual asset stake</a:t>
            </a:r>
            <a:endParaRPr sz="4000"/>
          </a:p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AI Agent friendly</a:t>
            </a:r>
            <a:endParaRPr sz="4000"/>
          </a:p>
        </p:txBody>
      </p:sp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476250" y="390525"/>
            <a:ext cx="8508600" cy="77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540"/>
              <a:t>Monoracle</a:t>
            </a:r>
            <a:endParaRPr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652850" y="1366425"/>
            <a:ext cx="8314500" cy="26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463550" algn="l" rtl="0">
              <a:spcBef>
                <a:spcPts val="0"/>
              </a:spcBef>
              <a:spcAft>
                <a:spcPts val="0"/>
              </a:spcAft>
              <a:buSzPts val="3700"/>
              <a:buChar char="●"/>
            </a:pPr>
            <a:r>
              <a:rPr lang="en" sz="3700"/>
              <a:t>Quote a price</a:t>
            </a:r>
            <a:endParaRPr sz="3700"/>
          </a:p>
          <a:p>
            <a:pPr marL="457200" lvl="0" indent="-463550" algn="l" rtl="0">
              <a:spcBef>
                <a:spcPts val="0"/>
              </a:spcBef>
              <a:spcAft>
                <a:spcPts val="0"/>
              </a:spcAft>
              <a:buSzPts val="3700"/>
              <a:buChar char="●"/>
            </a:pPr>
            <a:r>
              <a:rPr lang="en" sz="3700"/>
              <a:t>Also staking assets</a:t>
            </a:r>
            <a:endParaRPr sz="3700"/>
          </a:p>
          <a:p>
            <a:pPr marL="914400" lvl="1" indent="-463550" algn="l" rtl="0">
              <a:spcBef>
                <a:spcPts val="0"/>
              </a:spcBef>
              <a:spcAft>
                <a:spcPts val="0"/>
              </a:spcAft>
              <a:buSzPts val="3700"/>
              <a:buChar char="○"/>
            </a:pPr>
            <a:r>
              <a:rPr lang="en" sz="3700"/>
              <a:t>Good price, take rewards</a:t>
            </a:r>
            <a:endParaRPr sz="3700"/>
          </a:p>
          <a:p>
            <a:pPr marL="914400" lvl="1" indent="-463550" algn="l" rtl="0">
              <a:spcBef>
                <a:spcPts val="0"/>
              </a:spcBef>
              <a:spcAft>
                <a:spcPts val="0"/>
              </a:spcAft>
              <a:buSzPts val="3700"/>
              <a:buChar char="○"/>
            </a:pPr>
            <a:r>
              <a:rPr lang="en" sz="3700"/>
              <a:t>mispriced got punished</a:t>
            </a:r>
            <a:endParaRPr sz="3700"/>
          </a:p>
        </p:txBody>
      </p:sp>
      <p:sp>
        <p:nvSpPr>
          <p:cNvPr id="82" name="Google Shape;82;p17"/>
          <p:cNvSpPr txBox="1"/>
          <p:nvPr/>
        </p:nvSpPr>
        <p:spPr>
          <a:xfrm>
            <a:off x="152400" y="457200"/>
            <a:ext cx="5406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rPr>
              <a:t>Price Provider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526473" y="890186"/>
            <a:ext cx="8334300" cy="28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Verifying prices</a:t>
            </a:r>
            <a:endParaRPr sz="3600"/>
          </a:p>
          <a:p>
            <a:pPr marL="914400" lvl="1" indent="-457200" algn="l" rtl="0">
              <a:spcBef>
                <a:spcPts val="0"/>
              </a:spcBef>
              <a:spcAft>
                <a:spcPts val="0"/>
              </a:spcAft>
              <a:buSzPts val="3600"/>
              <a:buChar char="○"/>
            </a:pPr>
            <a:r>
              <a:rPr lang="en" sz="3600"/>
              <a:t>Good price, do nothing</a:t>
            </a:r>
            <a:endParaRPr sz="3600"/>
          </a:p>
          <a:p>
            <a:pPr marL="914400" lvl="1" indent="-457200" algn="l" rtl="0">
              <a:spcBef>
                <a:spcPts val="0"/>
              </a:spcBef>
              <a:spcAft>
                <a:spcPts val="0"/>
              </a:spcAft>
              <a:buSzPts val="3600"/>
              <a:buChar char="○"/>
            </a:pPr>
            <a:r>
              <a:rPr lang="en" sz="3600"/>
              <a:t>Bad price, veto, arb ( and profit!)</a:t>
            </a:r>
            <a:endParaRPr sz="3600"/>
          </a:p>
        </p:txBody>
      </p:sp>
      <p:sp>
        <p:nvSpPr>
          <p:cNvPr id="88" name="Google Shape;88;p18"/>
          <p:cNvSpPr txBox="1"/>
          <p:nvPr/>
        </p:nvSpPr>
        <p:spPr>
          <a:xfrm>
            <a:off x="457200" y="457200"/>
            <a:ext cx="5406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rPr>
              <a:t>Verifier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/>
        </p:nvSpPr>
        <p:spPr>
          <a:xfrm>
            <a:off x="2262450" y="180975"/>
            <a:ext cx="4619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rPr>
              <a:t> Price quotation Flow</a:t>
            </a:r>
            <a:endParaRPr sz="600"/>
          </a:p>
        </p:txBody>
      </p:sp>
      <p:pic>
        <p:nvPicPr>
          <p:cNvPr id="5" name="Google Shape;94;p19">
            <a:extLst>
              <a:ext uri="{FF2B5EF4-FFF2-40B4-BE49-F238E27FC236}">
                <a16:creationId xmlns:a16="http://schemas.microsoft.com/office/drawing/2014/main" id="{33D75151-0664-447F-8A8B-141775B36C0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14" y="1118425"/>
            <a:ext cx="8839204" cy="3073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/>
        </p:nvSpPr>
        <p:spPr>
          <a:xfrm>
            <a:off x="2958450" y="166000"/>
            <a:ext cx="3227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rPr>
              <a:t>Misprice Flow</a:t>
            </a:r>
            <a:endParaRPr sz="600"/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497" y="873100"/>
            <a:ext cx="8068499" cy="3709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/>
        </p:nvSpPr>
        <p:spPr>
          <a:xfrm>
            <a:off x="2842500" y="104775"/>
            <a:ext cx="3459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rPr>
              <a:t>Misprice Flow</a:t>
            </a:r>
            <a:endParaRPr sz="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1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602" y="828525"/>
            <a:ext cx="8170335" cy="362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86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840">
                <a:solidFill>
                  <a:srgbClr val="836EF9"/>
                </a:solidFill>
              </a:rPr>
              <a:t>Why built on a faster blockchain</a:t>
            </a:r>
            <a:endParaRPr sz="700">
              <a:solidFill>
                <a:srgbClr val="836EF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700">
              <a:solidFill>
                <a:srgbClr val="836EF9"/>
              </a:solidFill>
            </a:endParaRPr>
          </a:p>
        </p:txBody>
      </p:sp>
      <p:sp>
        <p:nvSpPr>
          <p:cNvPr id="111" name="Google Shape;111;p22"/>
          <p:cNvSpPr txBox="1">
            <a:spLocks noGrp="1"/>
          </p:cNvSpPr>
          <p:nvPr>
            <p:ph type="body" idx="1"/>
          </p:nvPr>
        </p:nvSpPr>
        <p:spPr>
          <a:xfrm>
            <a:off x="311700" y="1457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457200" lvl="0" indent="-57450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7782"/>
              <a:t>Faster finality</a:t>
            </a:r>
            <a:endParaRPr sz="7782"/>
          </a:p>
          <a:p>
            <a:pPr marL="457200" lvl="0" indent="-57450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7782"/>
              <a:t>Low gas fee</a:t>
            </a:r>
            <a:endParaRPr sz="7782"/>
          </a:p>
          <a:p>
            <a:pPr marL="457200" lvl="0" indent="-57450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7782"/>
              <a:t>Async/parallel/anti-MEV culture</a:t>
            </a:r>
            <a:endParaRPr sz="7782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/>
        </p:nvSpPr>
        <p:spPr>
          <a:xfrm>
            <a:off x="457200" y="457200"/>
            <a:ext cx="5406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rPr>
              <a:t>Demo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>
            <a:spLocks noGrp="1"/>
          </p:cNvSpPr>
          <p:nvPr>
            <p:ph type="title"/>
          </p:nvPr>
        </p:nvSpPr>
        <p:spPr>
          <a:xfrm>
            <a:off x="2415900" y="526350"/>
            <a:ext cx="4975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217</Words>
  <Application>Microsoft Office PowerPoint</Application>
  <PresentationFormat>On-screen Show (16:9)</PresentationFormat>
  <Paragraphs>47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Proxima Nova</vt:lpstr>
      <vt:lpstr>Arial</vt:lpstr>
      <vt:lpstr>Alfa Slab One</vt:lpstr>
      <vt:lpstr>Gameday</vt:lpstr>
      <vt:lpstr>Monoracle</vt:lpstr>
      <vt:lpstr>Monoracle </vt:lpstr>
      <vt:lpstr>Centralised therefore vulnerable  Price is heavily delayed Essentially it is just data uploading without verification</vt:lpstr>
      <vt:lpstr>Price market tested with skin-in-the-game On chain settle, dual asset stake AI Agent friendly</vt:lpstr>
      <vt:lpstr>Quote a price Also staking assets Good price, take rewards mispriced got punished</vt:lpstr>
      <vt:lpstr>Verifying prices Good price, do nothing Bad price, veto, arb ( and profit!)</vt:lpstr>
      <vt:lpstr>PowerPoint Presentation</vt:lpstr>
      <vt:lpstr>PowerPoint Presentation</vt:lpstr>
      <vt:lpstr>PowerPoint Presentation</vt:lpstr>
      <vt:lpstr>Why built on Monads </vt:lpstr>
      <vt:lpstr>PowerPoint Presentation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Kurt L</cp:lastModifiedBy>
  <cp:revision>6</cp:revision>
  <dcterms:modified xsi:type="dcterms:W3CDTF">2026-09-30T09:08:02Z</dcterms:modified>
</cp:coreProperties>
</file>